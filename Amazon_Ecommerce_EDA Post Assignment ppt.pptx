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26C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41248" y="1737360"/>
            <a:ext cx="8046720" cy="32004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300" b="1">
                <a:solidFill>
                  <a:srgbClr val="699BBE"/>
                </a:solidFill>
                <a:latin typeface="Aptos"/>
              </a:defRPr>
            </a:pPr>
            <a:r>
              <a:t>EXPLORATORY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240280"/>
            <a:ext cx="8229600" cy="1417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3200" b="1">
                <a:solidFill>
                  <a:srgbClr val="2A3440"/>
                </a:solidFill>
                <a:latin typeface="Aptos"/>
              </a:defRPr>
            </a:pPr>
            <a:r>
              <a:t>Amazon E-Commerce</a:t>
            </a:r>
            <a:br/>
            <a:r>
              <a:t>Sales &amp; Customer Behavior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4160520"/>
            <a:ext cx="1097280" cy="50292"/>
          </a:xfrm>
          <a:prstGeom prst="rect">
            <a:avLst/>
          </a:prstGeom>
          <a:solidFill>
            <a:srgbClr val="D7A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4617720"/>
            <a:ext cx="4572000" cy="26776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500" b="1">
                <a:solidFill>
                  <a:srgbClr val="2A3440"/>
                </a:solidFill>
                <a:latin typeface="Aptos"/>
              </a:defRPr>
            </a:pPr>
            <a:r>
              <a:rPr dirty="0"/>
              <a:t>Kavya Patel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807252"/>
            <a:ext cx="10789920" cy="4524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2700" b="1">
                <a:solidFill>
                  <a:srgbClr val="2A3440"/>
                </a:solidFill>
                <a:latin typeface="Aptos"/>
              </a:defRPr>
            </a:pPr>
            <a:r>
              <a:rPr dirty="0"/>
              <a:t> 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4846320" cy="5029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2000" b="1">
                <a:solidFill>
                  <a:srgbClr val="2A3440"/>
                </a:solidFill>
                <a:latin typeface="Aptos"/>
              </a:defRPr>
            </a:pPr>
            <a:r>
              <a:t>Project objective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94560"/>
            <a:ext cx="4754880" cy="11430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700" b="0">
                <a:solidFill>
                  <a:srgbClr val="626C77"/>
                </a:solidFill>
                <a:latin typeface="Aptos"/>
              </a:defRPr>
            </a:pPr>
            <a:r>
              <a:t>To explore when customers shop, how spending changes, and how purchasing patterns differ across countries and customers.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737360"/>
            <a:ext cx="2514600" cy="1417320"/>
          </a:xfrm>
          <a:prstGeom prst="roundRect">
            <a:avLst/>
          </a:prstGeom>
          <a:solidFill>
            <a:srgbClr val="E2EFF7"/>
          </a:solidFill>
          <a:ln w="10160">
            <a:solidFill>
              <a:srgbClr val="DE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44768" y="1901952"/>
            <a:ext cx="2112264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500" b="1">
                <a:solidFill>
                  <a:srgbClr val="2A3440"/>
                </a:solidFill>
                <a:latin typeface="Aptos"/>
              </a:defRPr>
            </a:pPr>
            <a:r>
              <a:t>Time patterns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44768" y="2304288"/>
            <a:ext cx="2112264" cy="4678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200" b="0">
                <a:solidFill>
                  <a:srgbClr val="626C77"/>
                </a:solidFill>
                <a:latin typeface="Aptos"/>
              </a:defRPr>
            </a:pPr>
            <a:r>
              <a:rPr sz="1400" dirty="0"/>
              <a:t>Compar</a:t>
            </a:r>
            <a:r>
              <a:rPr lang="en-US" sz="1400" dirty="0"/>
              <a:t>ing</a:t>
            </a:r>
            <a:r>
              <a:rPr sz="1400" dirty="0"/>
              <a:t> months, days and hour</a:t>
            </a:r>
            <a:r>
              <a:rPr lang="en-US" sz="1400" dirty="0"/>
              <a:t>s</a:t>
            </a:r>
            <a:r>
              <a:rPr sz="1400" dirty="0"/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32520" y="1737360"/>
            <a:ext cx="2514600" cy="1417320"/>
          </a:xfrm>
          <a:prstGeom prst="roundRect">
            <a:avLst/>
          </a:prstGeom>
          <a:solidFill>
            <a:srgbClr val="E7F1EA"/>
          </a:solidFill>
          <a:ln w="10160">
            <a:solidFill>
              <a:srgbClr val="DE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33688" y="1901952"/>
            <a:ext cx="2112264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500" b="1">
                <a:solidFill>
                  <a:srgbClr val="2A3440"/>
                </a:solidFill>
                <a:latin typeface="Aptos"/>
              </a:defRPr>
            </a:pPr>
            <a:r>
              <a:t>Spending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33688" y="2304288"/>
            <a:ext cx="2112264" cy="4678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200" b="0">
                <a:solidFill>
                  <a:srgbClr val="626C77"/>
                </a:solidFill>
                <a:latin typeface="Aptos"/>
              </a:defRPr>
            </a:pPr>
            <a:r>
              <a:rPr sz="1400" dirty="0"/>
              <a:t>Look at amount spent and its distribution.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3474720"/>
            <a:ext cx="2514600" cy="141732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0160">
            <a:solidFill>
              <a:srgbClr val="DE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44768" y="3639312"/>
            <a:ext cx="2112264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500" b="1">
                <a:solidFill>
                  <a:srgbClr val="2A3440"/>
                </a:solidFill>
                <a:latin typeface="Aptos"/>
              </a:defRPr>
            </a:pPr>
            <a:r>
              <a:t>Countries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44768" y="4041648"/>
            <a:ext cx="2112264" cy="4678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200" b="0">
                <a:solidFill>
                  <a:srgbClr val="626C77"/>
                </a:solidFill>
                <a:latin typeface="Aptos"/>
              </a:defRPr>
            </a:pPr>
            <a:r>
              <a:rPr sz="1400" dirty="0"/>
              <a:t>Compare spending patterns by country.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32520" y="3474720"/>
            <a:ext cx="2514600" cy="141732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0160">
            <a:solidFill>
              <a:srgbClr val="DE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33688" y="3639312"/>
            <a:ext cx="2112264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500" b="1">
                <a:solidFill>
                  <a:srgbClr val="2A3440"/>
                </a:solidFill>
                <a:latin typeface="Aptos"/>
              </a:defRPr>
            </a:pPr>
            <a:r>
              <a:t>Customers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33688" y="4041648"/>
            <a:ext cx="2112264" cy="68326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200" b="0">
                <a:solidFill>
                  <a:srgbClr val="626C77"/>
                </a:solidFill>
                <a:latin typeface="Aptos"/>
              </a:defRPr>
            </a:pPr>
            <a:r>
              <a:rPr sz="1400" dirty="0"/>
              <a:t>Identify high-spending customers</a:t>
            </a:r>
            <a:r>
              <a:rPr lang="en-US" sz="1400" dirty="0"/>
              <a:t> using their customer IDs</a:t>
            </a:r>
            <a:r>
              <a:rPr sz="1400" dirty="0"/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977639"/>
            <a:ext cx="4480560" cy="28315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600" b="1">
                <a:solidFill>
                  <a:srgbClr val="2A3440"/>
                </a:solidFill>
                <a:latin typeface="Aptos"/>
              </a:defRPr>
            </a:pPr>
            <a:r>
              <a:rPr lang="en-US" dirty="0"/>
              <a:t>T</a:t>
            </a:r>
            <a:r>
              <a:rPr dirty="0"/>
              <a:t>ools used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407408"/>
            <a:ext cx="4480560" cy="1325880"/>
          </a:xfrm>
          <a:prstGeom prst="rect">
            <a:avLst/>
          </a:prstGeom>
          <a:noFill/>
        </p:spPr>
        <p:txBody>
          <a:bodyPr wrap="square" lIns="18288" tIns="18288" rIns="36576" bIns="18288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626C77"/>
                </a:solidFill>
                <a:latin typeface="Aptos"/>
              </a:defRPr>
            </a:pPr>
            <a:r>
              <a:t>•  Pandas for cleaning and analysis</a:t>
            </a:r>
          </a:p>
          <a:p>
            <a:pPr>
              <a:spcAft>
                <a:spcPts val="1000"/>
              </a:spcAft>
              <a:defRPr sz="1400">
                <a:solidFill>
                  <a:srgbClr val="626C77"/>
                </a:solidFill>
                <a:latin typeface="Aptos"/>
              </a:defRPr>
            </a:pPr>
            <a:r>
              <a:t>•  Matplotlib and Seaborn for charts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1040" y="685800"/>
            <a:ext cx="10789920" cy="4524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2700" b="1">
                <a:solidFill>
                  <a:srgbClr val="2A3440"/>
                </a:solidFill>
                <a:latin typeface="Aptos"/>
              </a:defRPr>
            </a:pPr>
            <a:r>
              <a:rPr dirty="0"/>
              <a:t> Data </a:t>
            </a:r>
            <a:r>
              <a:rPr lang="en-US" dirty="0"/>
              <a:t>Cleaning and Feature engineering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4754880" cy="3566160"/>
          </a:xfrm>
          <a:prstGeom prst="rect">
            <a:avLst/>
          </a:prstGeom>
          <a:noFill/>
        </p:spPr>
        <p:txBody>
          <a:bodyPr wrap="square" lIns="18288" tIns="18288" rIns="36576" bIns="18288">
            <a:spAutoFit/>
          </a:bodyPr>
          <a:lstStyle/>
          <a:p>
            <a:pPr>
              <a:spcAft>
                <a:spcPts val="1600"/>
              </a:spcAft>
              <a:defRPr sz="1700">
                <a:solidFill>
                  <a:srgbClr val="2A3440"/>
                </a:solidFill>
                <a:latin typeface="Aptos"/>
              </a:defRPr>
            </a:pPr>
            <a:r>
              <a:t>•  Changed date and time fields into a clear format.</a:t>
            </a:r>
          </a:p>
          <a:p>
            <a:pPr>
              <a:spcAft>
                <a:spcPts val="1600"/>
              </a:spcAft>
              <a:defRPr sz="1700">
                <a:solidFill>
                  <a:srgbClr val="2A3440"/>
                </a:solidFill>
                <a:latin typeface="Aptos"/>
              </a:defRPr>
            </a:pPr>
            <a:r>
              <a:t>•  Created separate date and time columns.</a:t>
            </a:r>
          </a:p>
          <a:p>
            <a:pPr>
              <a:spcAft>
                <a:spcPts val="1600"/>
              </a:spcAft>
              <a:defRPr sz="1700">
                <a:solidFill>
                  <a:srgbClr val="2A3440"/>
                </a:solidFill>
                <a:latin typeface="Aptos"/>
              </a:defRPr>
            </a:pPr>
            <a:r>
              <a:t>•  Converted month numbers into month names.</a:t>
            </a:r>
          </a:p>
          <a:p>
            <a:pPr>
              <a:spcAft>
                <a:spcPts val="1600"/>
              </a:spcAft>
              <a:defRPr sz="1700">
                <a:solidFill>
                  <a:srgbClr val="2A3440"/>
                </a:solidFill>
                <a:latin typeface="Aptos"/>
              </a:defRPr>
            </a:pPr>
            <a:r>
              <a:t>•  Converted weekday numbers into weekday names.</a:t>
            </a:r>
          </a:p>
          <a:p>
            <a:pPr>
              <a:spcAft>
                <a:spcPts val="1600"/>
              </a:spcAft>
              <a:defRPr sz="1700">
                <a:solidFill>
                  <a:srgbClr val="2A3440"/>
                </a:solidFill>
                <a:latin typeface="Aptos"/>
              </a:defRPr>
            </a:pPr>
            <a:r>
              <a:t>•  Created a year column for easier grouping.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828800"/>
            <a:ext cx="4983480" cy="1051560"/>
          </a:xfrm>
          <a:prstGeom prst="roundRect">
            <a:avLst/>
          </a:prstGeom>
          <a:solidFill>
            <a:srgbClr val="E2EFF7"/>
          </a:solidFill>
          <a:ln w="10160">
            <a:solidFill>
              <a:srgbClr val="DE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81928" y="1993392"/>
            <a:ext cx="4581144" cy="26776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500" b="1">
                <a:solidFill>
                  <a:srgbClr val="2A3440"/>
                </a:solidFill>
                <a:latin typeface="Aptos"/>
              </a:defRPr>
            </a:pPr>
            <a:r>
              <a:rPr dirty="0"/>
              <a:t>Why this </a:t>
            </a:r>
            <a:r>
              <a:rPr lang="en-US" dirty="0"/>
              <a:t>has been done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6281928" y="2395728"/>
            <a:ext cx="4581144" cy="25237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200" b="0">
                <a:solidFill>
                  <a:srgbClr val="626C77"/>
                </a:solidFill>
                <a:latin typeface="Aptos"/>
              </a:defRPr>
            </a:pPr>
            <a:r>
              <a:rPr lang="en-US" sz="1400" dirty="0"/>
              <a:t>Making the data more easy to understand and use </a:t>
            </a:r>
            <a:r>
              <a:rPr sz="1400" dirty="0"/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3154680"/>
            <a:ext cx="4983480" cy="1051560"/>
          </a:xfrm>
          <a:prstGeom prst="roundRect">
            <a:avLst/>
          </a:prstGeom>
          <a:solidFill>
            <a:srgbClr val="E7F1EA"/>
          </a:solidFill>
          <a:ln w="10160">
            <a:solidFill>
              <a:srgbClr val="DE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81928" y="3319272"/>
            <a:ext cx="4581144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500" b="1">
                <a:solidFill>
                  <a:srgbClr val="2A3440"/>
                </a:solidFill>
                <a:latin typeface="Aptos"/>
              </a:defRPr>
            </a:pPr>
            <a:r>
              <a:t>Analysis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1928" y="3721608"/>
            <a:ext cx="4581144" cy="4678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200" b="0">
                <a:solidFill>
                  <a:srgbClr val="626C77"/>
                </a:solidFill>
                <a:latin typeface="Aptos"/>
              </a:defRPr>
            </a:pPr>
            <a:r>
              <a:rPr sz="1400" dirty="0"/>
              <a:t>Date, month, day, country, customer ID and amount spent</a:t>
            </a:r>
            <a:r>
              <a:rPr lang="en-US" sz="1400" dirty="0"/>
              <a:t> can be used to find some patterns and link between them</a:t>
            </a:r>
            <a:r>
              <a:rPr sz="1400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573688"/>
            <a:ext cx="10789920" cy="4524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2700" b="1">
                <a:solidFill>
                  <a:srgbClr val="2A3440"/>
                </a:solidFill>
                <a:latin typeface="Aptos"/>
              </a:defRPr>
            </a:pPr>
            <a:r>
              <a:rPr lang="en-US" dirty="0"/>
              <a:t>Charts for finding when the most amount is spent </a:t>
            </a:r>
            <a:endParaRPr dirty="0"/>
          </a:p>
        </p:txBody>
      </p:sp>
      <p:pic>
        <p:nvPicPr>
          <p:cNvPr id="6" name="Picture 5" descr="chart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72768"/>
            <a:ext cx="5577840" cy="3566160"/>
          </a:xfrm>
          <a:prstGeom prst="rect">
            <a:avLst/>
          </a:prstGeom>
        </p:spPr>
      </p:pic>
      <p:pic>
        <p:nvPicPr>
          <p:cNvPr id="7" name="Picture 6" descr="chart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572768"/>
            <a:ext cx="5212080" cy="3566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5349240"/>
            <a:ext cx="5212080" cy="26776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500" b="1">
                <a:solidFill>
                  <a:srgbClr val="2A3440"/>
                </a:solidFill>
                <a:latin typeface="Aptos"/>
              </a:defRPr>
            </a:pPr>
            <a:r>
              <a:rPr lang="en-US" dirty="0"/>
              <a:t>Daily spending peaks on Monday and Saturday</a:t>
            </a:r>
            <a:r>
              <a:rPr dirty="0"/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0528" y="5349240"/>
            <a:ext cx="4892040" cy="4678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400" b="1">
                <a:solidFill>
                  <a:srgbClr val="2A3440"/>
                </a:solidFill>
                <a:latin typeface="Aptos"/>
              </a:defRPr>
            </a:pPr>
            <a:r>
              <a:rPr lang="en-US" dirty="0"/>
              <a:t>The most amount of selling happens between 10:00 AM to 03:00 PM of the day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3608" y="573688"/>
            <a:ext cx="10789920" cy="4524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2700" b="1">
                <a:solidFill>
                  <a:srgbClr val="2A3440"/>
                </a:solidFill>
                <a:latin typeface="Aptos"/>
              </a:defRPr>
            </a:pPr>
            <a:r>
              <a:rPr lang="en-US" dirty="0"/>
              <a:t>Number of Invoices by </a:t>
            </a:r>
            <a:r>
              <a:rPr dirty="0"/>
              <a:t>Day</a:t>
            </a:r>
          </a:p>
        </p:txBody>
      </p:sp>
      <p:pic>
        <p:nvPicPr>
          <p:cNvPr id="6" name="Picture 5" descr="chart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1600200"/>
            <a:ext cx="6757416" cy="468411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543800" y="1874519"/>
            <a:ext cx="3657600" cy="1143000"/>
          </a:xfrm>
          <a:prstGeom prst="roundRect">
            <a:avLst/>
          </a:prstGeom>
          <a:solidFill>
            <a:srgbClr val="E2EFF7"/>
          </a:solidFill>
          <a:ln w="10160">
            <a:solidFill>
              <a:srgbClr val="DE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44968" y="2039112"/>
            <a:ext cx="3255264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500" b="1">
                <a:solidFill>
                  <a:srgbClr val="2A3440"/>
                </a:solidFill>
                <a:latin typeface="Aptos"/>
              </a:defRPr>
            </a:pPr>
            <a:r>
              <a:t>Main observation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44968" y="2441448"/>
            <a:ext cx="3255264" cy="4678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200" b="0">
                <a:solidFill>
                  <a:srgbClr val="626C77"/>
                </a:solidFill>
                <a:latin typeface="Aptos"/>
              </a:defRPr>
            </a:pPr>
            <a:r>
              <a:rPr lang="en-US" sz="1400" dirty="0"/>
              <a:t>The most number of invoices are made on Thursday.</a:t>
            </a:r>
            <a:endParaRPr sz="1400" dirty="0"/>
          </a:p>
        </p:txBody>
      </p:sp>
      <p:sp>
        <p:nvSpPr>
          <p:cNvPr id="10" name="Rounded Rectangle 9"/>
          <p:cNvSpPr/>
          <p:nvPr/>
        </p:nvSpPr>
        <p:spPr>
          <a:xfrm>
            <a:off x="7543800" y="3337560"/>
            <a:ext cx="3657600" cy="1143000"/>
          </a:xfrm>
          <a:prstGeom prst="roundRect">
            <a:avLst/>
          </a:prstGeom>
          <a:solidFill>
            <a:srgbClr val="E7F1EA"/>
          </a:solidFill>
          <a:ln w="10160">
            <a:solidFill>
              <a:srgbClr val="DE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44968" y="3502152"/>
            <a:ext cx="3255264" cy="31089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500" b="1">
                <a:solidFill>
                  <a:srgbClr val="2A3440"/>
                </a:solidFill>
                <a:latin typeface="Aptos"/>
              </a:defRPr>
            </a:pPr>
            <a:r>
              <a:rPr dirty="0"/>
              <a:t>Possible 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44968" y="3904487"/>
            <a:ext cx="3255264" cy="4678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200" b="0">
                <a:solidFill>
                  <a:srgbClr val="626C77"/>
                </a:solidFill>
                <a:latin typeface="Aptos"/>
              </a:defRPr>
            </a:pPr>
            <a:r>
              <a:rPr lang="en-US" sz="1400" dirty="0"/>
              <a:t>The</a:t>
            </a:r>
            <a:r>
              <a:rPr sz="1400" dirty="0"/>
              <a:t> busines</a:t>
            </a:r>
            <a:r>
              <a:rPr lang="en-US" sz="1400" dirty="0"/>
              <a:t>s can offer day related offers to attract more customers on other days</a:t>
            </a:r>
            <a:r>
              <a:rPr sz="1400" dirty="0"/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C3CD30-F146-0B95-55B0-1C30773C4B64}"/>
              </a:ext>
            </a:extLst>
          </p:cNvPr>
          <p:cNvSpPr txBox="1"/>
          <p:nvPr/>
        </p:nvSpPr>
        <p:spPr>
          <a:xfrm>
            <a:off x="7543800" y="4910328"/>
            <a:ext cx="3657600" cy="16466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 b="1" dirty="0">
                <a:latin typeface="Aptos" panose="020B0004020202020204" pitchFamily="34" charset="0"/>
              </a:rPr>
              <a:t>Example</a:t>
            </a:r>
          </a:p>
          <a:p>
            <a:endParaRPr lang="en-IN" sz="1500" b="1" dirty="0">
              <a:latin typeface="Aptos" panose="020B0004020202020204" pitchFamily="34" charset="0"/>
            </a:endParaRPr>
          </a:p>
          <a:p>
            <a:r>
              <a:rPr lang="en-US" sz="1400" dirty="0">
                <a:solidFill>
                  <a:srgbClr val="626C77"/>
                </a:solidFill>
                <a:latin typeface="Aptos" panose="020B0004020202020204" pitchFamily="34" charset="0"/>
              </a:rPr>
              <a:t>Lapino’z offers buy 1 get 1 free offer on Wednesday and Friday to increase their sale on those days along with the sales on the weekend</a:t>
            </a:r>
            <a:r>
              <a:rPr lang="en-US" sz="1400" b="1" dirty="0">
                <a:solidFill>
                  <a:srgbClr val="626C77"/>
                </a:solidFill>
                <a:latin typeface="Aptos" panose="020B0004020202020204" pitchFamily="34" charset="0"/>
              </a:rPr>
              <a:t>.</a:t>
            </a:r>
            <a:endParaRPr lang="en-IN" sz="1400" b="1" dirty="0">
              <a:solidFill>
                <a:srgbClr val="626C77"/>
              </a:solidFill>
              <a:latin typeface="Aptos" panose="020B0004020202020204" pitchFamily="34" charset="0"/>
            </a:endParaRPr>
          </a:p>
          <a:p>
            <a:endParaRPr lang="en-IN" sz="15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789920" cy="4524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2700" b="1">
                <a:solidFill>
                  <a:srgbClr val="2A3440"/>
                </a:solidFill>
                <a:latin typeface="Aptos"/>
              </a:defRPr>
            </a:pPr>
            <a:r>
              <a:rPr dirty="0"/>
              <a:t>How </a:t>
            </a:r>
            <a:r>
              <a:rPr lang="en-US" dirty="0"/>
              <a:t>m</a:t>
            </a:r>
            <a:r>
              <a:rPr dirty="0"/>
              <a:t>uch </a:t>
            </a:r>
            <a:r>
              <a:rPr lang="en-US" dirty="0"/>
              <a:t>the</a:t>
            </a:r>
            <a:r>
              <a:rPr dirty="0"/>
              <a:t> </a:t>
            </a:r>
            <a:r>
              <a:rPr lang="en-US" dirty="0"/>
              <a:t>c</a:t>
            </a:r>
            <a:r>
              <a:rPr dirty="0"/>
              <a:t>ustomers </a:t>
            </a:r>
            <a:r>
              <a:rPr lang="en-US" dirty="0"/>
              <a:t>s</a:t>
            </a:r>
            <a:r>
              <a:rPr dirty="0"/>
              <a:t>pend</a:t>
            </a:r>
            <a:r>
              <a:rPr lang="en-US" dirty="0"/>
              <a:t> according to the country</a:t>
            </a:r>
            <a:endParaRPr dirty="0"/>
          </a:p>
        </p:txBody>
      </p:sp>
      <p:pic>
        <p:nvPicPr>
          <p:cNvPr id="6" name="Picture 5" descr="chart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23544"/>
            <a:ext cx="5760720" cy="537667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537960" y="1783080"/>
            <a:ext cx="4663440" cy="1051560"/>
          </a:xfrm>
          <a:prstGeom prst="roundRect">
            <a:avLst/>
          </a:prstGeom>
          <a:solidFill>
            <a:srgbClr val="E2EFF7"/>
          </a:solidFill>
          <a:ln w="10160">
            <a:solidFill>
              <a:srgbClr val="DE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39128" y="1923491"/>
            <a:ext cx="4261103" cy="26776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500" b="1">
                <a:solidFill>
                  <a:srgbClr val="2A3440"/>
                </a:solidFill>
                <a:latin typeface="Aptos"/>
              </a:defRPr>
            </a:pPr>
            <a:r>
              <a:rPr lang="en-US" dirty="0"/>
              <a:t>The range of spendings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6739128" y="2191257"/>
            <a:ext cx="4261103" cy="4678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200" b="0">
                <a:solidFill>
                  <a:srgbClr val="626C77"/>
                </a:solidFill>
                <a:latin typeface="Aptos"/>
              </a:defRPr>
            </a:pPr>
            <a:r>
              <a:rPr sz="1400" dirty="0"/>
              <a:t>The spending values a</a:t>
            </a:r>
            <a:r>
              <a:rPr lang="en-US" sz="1400" dirty="0"/>
              <a:t>re</a:t>
            </a:r>
            <a:r>
              <a:rPr sz="1400" dirty="0"/>
              <a:t> </a:t>
            </a:r>
            <a:r>
              <a:rPr lang="en-US" sz="1400" dirty="0"/>
              <a:t>mostly</a:t>
            </a:r>
            <a:r>
              <a:rPr sz="1400" dirty="0"/>
              <a:t> around $</a:t>
            </a:r>
            <a:r>
              <a:rPr lang="en-US" sz="1400" dirty="0"/>
              <a:t>1 - $14+ in the United Kingdom whereas $1 - $6 in other countries.</a:t>
            </a:r>
            <a:endParaRPr sz="1400" dirty="0"/>
          </a:p>
        </p:txBody>
      </p:sp>
      <p:sp>
        <p:nvSpPr>
          <p:cNvPr id="10" name="Rounded Rectangle 9"/>
          <p:cNvSpPr/>
          <p:nvPr/>
        </p:nvSpPr>
        <p:spPr>
          <a:xfrm>
            <a:off x="6537960" y="3292036"/>
            <a:ext cx="466344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E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 b="0">
                <a:solidFill>
                  <a:srgbClr val="626C77"/>
                </a:solidFill>
                <a:latin typeface="Aptos"/>
              </a:defRPr>
            </a:pP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720840" y="3318200"/>
            <a:ext cx="4480560" cy="26776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500" b="1">
                <a:solidFill>
                  <a:srgbClr val="2A3440"/>
                </a:solidFill>
                <a:latin typeface="Aptos"/>
              </a:defRPr>
            </a:pPr>
            <a:r>
              <a:rPr lang="en-US" dirty="0"/>
              <a:t>The spread of the data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7F81F5-33EF-0840-DD97-EA3C31035CC6}"/>
              </a:ext>
            </a:extLst>
          </p:cNvPr>
          <p:cNvSpPr txBox="1"/>
          <p:nvPr/>
        </p:nvSpPr>
        <p:spPr>
          <a:xfrm>
            <a:off x="6720840" y="3631763"/>
            <a:ext cx="4261103" cy="68326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200" b="0">
                <a:solidFill>
                  <a:srgbClr val="626C77"/>
                </a:solidFill>
                <a:latin typeface="Aptos"/>
              </a:defRPr>
            </a:pPr>
            <a:r>
              <a:rPr sz="1400" dirty="0"/>
              <a:t>The </a:t>
            </a:r>
            <a:r>
              <a:rPr lang="en-US" sz="1400" dirty="0"/>
              <a:t>United Kingdoms have the most consistent spread of the data whereas Netherlands have variations in its spending by the customers.</a:t>
            </a:r>
            <a:endParaRPr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73688"/>
            <a:ext cx="10789920" cy="4524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2700" b="1">
                <a:solidFill>
                  <a:srgbClr val="2A3440"/>
                </a:solidFill>
                <a:latin typeface="Aptos"/>
              </a:defRPr>
            </a:pPr>
            <a:r>
              <a:rPr lang="en-US" dirty="0"/>
              <a:t>Charts for understanding c</a:t>
            </a:r>
            <a:r>
              <a:rPr dirty="0"/>
              <a:t>ustomers</a:t>
            </a:r>
          </a:p>
        </p:txBody>
      </p:sp>
      <p:pic>
        <p:nvPicPr>
          <p:cNvPr id="6" name="Picture 5" descr="chart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07592"/>
            <a:ext cx="5532120" cy="3950208"/>
          </a:xfrm>
          <a:prstGeom prst="rect">
            <a:avLst/>
          </a:prstGeom>
        </p:spPr>
      </p:pic>
      <p:pic>
        <p:nvPicPr>
          <p:cNvPr id="7" name="Picture 6" descr="chart_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307592"/>
            <a:ext cx="5166360" cy="39502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8" y="5440680"/>
            <a:ext cx="5212080" cy="63709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300" b="1">
                <a:solidFill>
                  <a:srgbClr val="2A3440"/>
                </a:solidFill>
                <a:latin typeface="Aptos"/>
              </a:defRPr>
            </a:pPr>
            <a:r>
              <a:rPr lang="en-IN" sz="1300" dirty="0">
                <a:solidFill>
                  <a:srgbClr val="2A3440"/>
                </a:solidFill>
                <a:latin typeface="Aptos"/>
              </a:rPr>
              <a:t>There is an customer who has an average of $100 of spending as well as we have customers who only spends an average of 5 - 7 dollars on every purchase</a:t>
            </a:r>
            <a:r>
              <a:rPr dirty="0"/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5440680"/>
            <a:ext cx="4800600" cy="63709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300" b="1">
                <a:solidFill>
                  <a:srgbClr val="2A3440"/>
                </a:solidFill>
                <a:latin typeface="Aptos"/>
              </a:defRPr>
            </a:pPr>
            <a:r>
              <a:rPr lang="en-US" dirty="0"/>
              <a:t>The most amount of selling happens during evening of the day so we can promote offers in the morning to increase the sales in the morning as well.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73688"/>
            <a:ext cx="10789920" cy="4524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2700" b="1">
                <a:solidFill>
                  <a:srgbClr val="2A3440"/>
                </a:solidFill>
                <a:latin typeface="Aptos"/>
              </a:defRPr>
            </a:pPr>
            <a:r>
              <a:rPr dirty="0"/>
              <a:t>Looking at</a:t>
            </a:r>
            <a:r>
              <a:rPr lang="en-US" dirty="0"/>
              <a:t> the</a:t>
            </a:r>
            <a:r>
              <a:rPr dirty="0"/>
              <a:t> </a:t>
            </a:r>
            <a:r>
              <a:rPr lang="en-US" dirty="0"/>
              <a:t>p</a:t>
            </a:r>
            <a:r>
              <a:rPr dirty="0"/>
              <a:t>atterns</a:t>
            </a:r>
            <a:r>
              <a:rPr lang="en-US" dirty="0"/>
              <a:t> on overall</a:t>
            </a:r>
            <a:endParaRPr dirty="0"/>
          </a:p>
        </p:txBody>
      </p:sp>
      <p:pic>
        <p:nvPicPr>
          <p:cNvPr id="6" name="Picture 5" descr="chart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00200"/>
            <a:ext cx="5577840" cy="3840480"/>
          </a:xfrm>
          <a:prstGeom prst="rect">
            <a:avLst/>
          </a:prstGeom>
        </p:spPr>
      </p:pic>
      <p:pic>
        <p:nvPicPr>
          <p:cNvPr id="7" name="Picture 6" descr="chart_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600200"/>
            <a:ext cx="5166360" cy="3840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5486400"/>
            <a:ext cx="5166360" cy="23698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1300" b="1">
                <a:solidFill>
                  <a:srgbClr val="2A3440"/>
                </a:solidFill>
                <a:latin typeface="Aptos"/>
              </a:defRPr>
            </a:pPr>
            <a:r>
              <a:rPr dirty="0"/>
              <a:t>The heatmap shows how invoice</a:t>
            </a:r>
            <a:r>
              <a:rPr lang="en-US" dirty="0"/>
              <a:t>s</a:t>
            </a:r>
            <a:r>
              <a:rPr dirty="0"/>
              <a:t> varies by weekday and hour.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5486400"/>
            <a:ext cx="4754880" cy="103720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lang="en-IN" sz="1300" b="1" dirty="0">
                <a:latin typeface="Aptos" panose="020B0004020202020204" pitchFamily="34" charset="0"/>
              </a:rPr>
              <a:t>The countries like Australia , Netherlands , Japan and Sweden have the highest overall spending distributions.</a:t>
            </a:r>
          </a:p>
          <a:p>
            <a:r>
              <a:rPr lang="en-IN" sz="1300" b="1" dirty="0">
                <a:latin typeface="Aptos" panose="020B0004020202020204" pitchFamily="34" charset="0"/>
              </a:rPr>
              <a:t>The countries like UK and France shows that they are highly consistent as it has the most amount of spread near the boxes.</a:t>
            </a:r>
          </a:p>
          <a:p>
            <a:pPr>
              <a:defRPr sz="1300" b="1">
                <a:solidFill>
                  <a:srgbClr val="2A3440"/>
                </a:solidFill>
                <a:latin typeface="Aptos"/>
              </a:defRPr>
            </a:pP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501361"/>
            <a:ext cx="10789920" cy="4524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>
              <a:defRPr sz="2700" b="1">
                <a:solidFill>
                  <a:srgbClr val="2A3440"/>
                </a:solidFill>
                <a:latin typeface="Aptos"/>
              </a:defRPr>
            </a:pPr>
            <a:r>
              <a:rPr dirty="0"/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10863072" cy="3371179"/>
          </a:xfrm>
          <a:prstGeom prst="rect">
            <a:avLst/>
          </a:prstGeom>
          <a:noFill/>
        </p:spPr>
        <p:txBody>
          <a:bodyPr wrap="square" lIns="18288" tIns="18288" rIns="36576" bIns="18288">
            <a:spAutoFit/>
          </a:bodyPr>
          <a:lstStyle/>
          <a:p>
            <a:pPr marL="285750" indent="-285750">
              <a:spcAft>
                <a:spcPts val="1400"/>
              </a:spcAft>
              <a:buFont typeface="Arial" panose="020B0604020202020204" pitchFamily="34" charset="0"/>
              <a:buChar char="•"/>
              <a:defRPr sz="1700">
                <a:solidFill>
                  <a:srgbClr val="2A3440"/>
                </a:solidFill>
                <a:latin typeface="Aptos"/>
              </a:defRPr>
            </a:pPr>
            <a:r>
              <a:rPr lang="en-US" dirty="0"/>
              <a:t>This EDA mainly focuses on the usage of various types of charts that are easy to explain , easy to use , and</a:t>
            </a:r>
            <a:r>
              <a:rPr dirty="0"/>
              <a:t> </a:t>
            </a:r>
            <a:r>
              <a:rPr lang="en-US" dirty="0"/>
              <a:t>provides a clean presentation.</a:t>
            </a:r>
            <a:endParaRPr lang="en-IN" dirty="0"/>
          </a:p>
          <a:p>
            <a:pPr marL="285750" indent="-285750">
              <a:spcAft>
                <a:spcPts val="1400"/>
              </a:spcAft>
              <a:buFont typeface="Arial" panose="020B0604020202020204" pitchFamily="34" charset="0"/>
              <a:buChar char="•"/>
              <a:defRPr sz="1700">
                <a:solidFill>
                  <a:srgbClr val="2A3440"/>
                </a:solidFill>
                <a:latin typeface="Aptos"/>
              </a:defRPr>
            </a:pPr>
            <a:r>
              <a:rPr lang="en-IN" sz="1700" dirty="0">
                <a:solidFill>
                  <a:srgbClr val="2A3440"/>
                </a:solidFill>
                <a:latin typeface="Aptos"/>
              </a:rPr>
              <a:t>Invoice activity is higher around 10 AM to 3 PM, showing that daytime is an important shopping period in the dataset.</a:t>
            </a:r>
          </a:p>
          <a:p>
            <a:pPr marL="285750" indent="-285750">
              <a:spcAft>
                <a:spcPts val="1400"/>
              </a:spcAft>
              <a:buFont typeface="Arial" panose="020B0604020202020204" pitchFamily="34" charset="0"/>
              <a:buChar char="•"/>
              <a:defRPr sz="1700">
                <a:solidFill>
                  <a:srgbClr val="2A3440"/>
                </a:solidFill>
                <a:latin typeface="Aptos"/>
              </a:defRPr>
            </a:pPr>
            <a:r>
              <a:rPr lang="en-IN" sz="1700" dirty="0">
                <a:solidFill>
                  <a:srgbClr val="2A3440"/>
                </a:solidFill>
                <a:latin typeface="Aptos"/>
              </a:rPr>
              <a:t>Shopping activity and spending appear stronger during October to December, indicating a possible seasonal pattern.</a:t>
            </a:r>
          </a:p>
          <a:p>
            <a:pPr marL="285750" indent="-285750">
              <a:spcAft>
                <a:spcPts val="1400"/>
              </a:spcAft>
              <a:buFont typeface="Arial" panose="020B0604020202020204" pitchFamily="34" charset="0"/>
              <a:buChar char="•"/>
              <a:defRPr sz="1700">
                <a:solidFill>
                  <a:srgbClr val="2A3440"/>
                </a:solidFill>
                <a:latin typeface="Aptos"/>
              </a:defRPr>
            </a:pPr>
            <a:r>
              <a:rPr lang="en-IN" sz="1700" dirty="0">
                <a:solidFill>
                  <a:srgbClr val="2A3440"/>
                </a:solidFill>
                <a:latin typeface="Aptos"/>
              </a:rPr>
              <a:t>A higher number of invoices does not always mean higher total revenue. Both transaction volume and amount spent should be analysed.</a:t>
            </a:r>
          </a:p>
          <a:p>
            <a:pPr marL="285750" indent="-285750">
              <a:spcAft>
                <a:spcPts val="1400"/>
              </a:spcAft>
              <a:buFont typeface="Arial" panose="020B0604020202020204" pitchFamily="34" charset="0"/>
              <a:buChar char="•"/>
              <a:defRPr sz="1700">
                <a:solidFill>
                  <a:srgbClr val="2A3440"/>
                </a:solidFill>
                <a:latin typeface="Aptos"/>
              </a:defRPr>
            </a:pPr>
            <a:r>
              <a:rPr lang="en-IN" sz="1700" dirty="0">
                <a:solidFill>
                  <a:srgbClr val="2A3440"/>
                </a:solidFill>
                <a:latin typeface="Aptos"/>
              </a:rPr>
              <a:t>Businesses can use these insights to plan seasonal promotions, improve marketing strategies and understand customer purchasing patterns.</a:t>
            </a:r>
            <a:endParaRPr lang="en-IN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203A63-32CD-77F9-AEED-AA0387F26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19396C-7A24-685C-04BC-F6EE6D66EBDF}"/>
              </a:ext>
            </a:extLst>
          </p:cNvPr>
          <p:cNvSpPr txBox="1"/>
          <p:nvPr/>
        </p:nvSpPr>
        <p:spPr>
          <a:xfrm>
            <a:off x="3028162" y="2474614"/>
            <a:ext cx="59436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dirty="0">
                <a:latin typeface="Brush Script MT" panose="03060802040406070304" pitchFamily="66" charset="0"/>
              </a:rPr>
              <a:t>Thank You</a:t>
            </a:r>
            <a:endParaRPr lang="en-IN" sz="8800" dirty="0">
              <a:latin typeface="Brush Script MT" panose="030608020404060703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37402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586</Words>
  <Application>Microsoft Office PowerPoint</Application>
  <PresentationFormat>Widescreen</PresentationFormat>
  <Paragraphs>57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Brush Script MT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hitesh mavani</cp:lastModifiedBy>
  <cp:revision>4</cp:revision>
  <dcterms:created xsi:type="dcterms:W3CDTF">2013-01-27T09:14:16Z</dcterms:created>
  <dcterms:modified xsi:type="dcterms:W3CDTF">2026-10-21T16:33:32Z</dcterms:modified>
  <cp:category/>
</cp:coreProperties>
</file>